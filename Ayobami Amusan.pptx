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38CCA2-4665-46A0-A361-B5DAD6BDB3B4}" v="2" dt="2026-02-10T10:57:33.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94660"/>
  </p:normalViewPr>
  <p:slideViewPr>
    <p:cSldViewPr snapToGrid="0">
      <p:cViewPr>
        <p:scale>
          <a:sx n="55" d="100"/>
          <a:sy n="55" d="100"/>
        </p:scale>
        <p:origin x="1626"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usan, Ayobami" userId="9c7a1329-3d43-4a34-b735-568444e576e3" providerId="ADAL" clId="{FA198EE0-7B41-4953-A59E-87E83EF62265}"/>
    <pc:docChg chg="undo custSel modSld">
      <pc:chgData name="Amusan, Ayobami" userId="9c7a1329-3d43-4a34-b735-568444e576e3" providerId="ADAL" clId="{FA198EE0-7B41-4953-A59E-87E83EF62265}" dt="2026-02-10T11:00:09.432" v="11" actId="26606"/>
      <pc:docMkLst>
        <pc:docMk/>
      </pc:docMkLst>
      <pc:sldChg chg="addSp delSp modSp mod setBg">
        <pc:chgData name="Amusan, Ayobami" userId="9c7a1329-3d43-4a34-b735-568444e576e3" providerId="ADAL" clId="{FA198EE0-7B41-4953-A59E-87E83EF62265}" dt="2026-02-10T11:00:09.432" v="11" actId="26606"/>
        <pc:sldMkLst>
          <pc:docMk/>
          <pc:sldMk cId="3281573856" sldId="261"/>
        </pc:sldMkLst>
        <pc:spChg chg="mod">
          <ac:chgData name="Amusan, Ayobami" userId="9c7a1329-3d43-4a34-b735-568444e576e3" providerId="ADAL" clId="{FA198EE0-7B41-4953-A59E-87E83EF62265}" dt="2026-02-10T11:00:09.432" v="11" actId="26606"/>
          <ac:spMkLst>
            <pc:docMk/>
            <pc:sldMk cId="3281573856" sldId="261"/>
            <ac:spMk id="2" creationId="{635F072E-7D53-B9A7-4EA2-E1907BC61FB4}"/>
          </ac:spMkLst>
        </pc:spChg>
        <pc:spChg chg="mod">
          <ac:chgData name="Amusan, Ayobami" userId="9c7a1329-3d43-4a34-b735-568444e576e3" providerId="ADAL" clId="{FA198EE0-7B41-4953-A59E-87E83EF62265}" dt="2026-02-10T11:00:09.432" v="11" actId="26606"/>
          <ac:spMkLst>
            <pc:docMk/>
            <pc:sldMk cId="3281573856" sldId="261"/>
            <ac:spMk id="5" creationId="{C9AC8E57-2D0E-DFBF-F63A-D762A61D7B88}"/>
          </ac:spMkLst>
        </pc:spChg>
        <pc:spChg chg="add del">
          <ac:chgData name="Amusan, Ayobami" userId="9c7a1329-3d43-4a34-b735-568444e576e3" providerId="ADAL" clId="{FA198EE0-7B41-4953-A59E-87E83EF62265}" dt="2026-02-10T10:55:37.019" v="2" actId="26606"/>
          <ac:spMkLst>
            <pc:docMk/>
            <pc:sldMk cId="3281573856" sldId="261"/>
            <ac:spMk id="14" creationId="{04AB5694-85E8-4E8A-B983-20F179E3F200}"/>
          </ac:spMkLst>
        </pc:spChg>
        <pc:spChg chg="add del">
          <ac:chgData name="Amusan, Ayobami" userId="9c7a1329-3d43-4a34-b735-568444e576e3" providerId="ADAL" clId="{FA198EE0-7B41-4953-A59E-87E83EF62265}" dt="2026-02-10T10:57:30.203" v="8" actId="26606"/>
          <ac:spMkLst>
            <pc:docMk/>
            <pc:sldMk cId="3281573856" sldId="261"/>
            <ac:spMk id="25" creationId="{F27E2391-4EC5-4FD9-A3B0-20F5E23EE34C}"/>
          </ac:spMkLst>
        </pc:spChg>
        <pc:graphicFrameChg chg="add del">
          <ac:chgData name="Amusan, Ayobami" userId="9c7a1329-3d43-4a34-b735-568444e576e3" providerId="ADAL" clId="{FA198EE0-7B41-4953-A59E-87E83EF62265}" dt="2026-02-10T10:55:37.019" v="2" actId="26606"/>
          <ac:graphicFrameMkLst>
            <pc:docMk/>
            <pc:sldMk cId="3281573856" sldId="261"/>
            <ac:graphicFrameMk id="15" creationId="{1B3ECF0E-27D1-C07E-A822-7C9C39786935}"/>
          </ac:graphicFrameMkLst>
        </pc:graphicFrameChg>
        <pc:graphicFrameChg chg="add del mod modGraphic">
          <ac:chgData name="Amusan, Ayobami" userId="9c7a1329-3d43-4a34-b735-568444e576e3" providerId="ADAL" clId="{FA198EE0-7B41-4953-A59E-87E83EF62265}" dt="2026-02-10T10:57:35.222" v="10" actId="26606"/>
          <ac:graphicFrameMkLst>
            <pc:docMk/>
            <pc:sldMk cId="3281573856" sldId="261"/>
            <ac:graphicFrameMk id="20" creationId="{5551D8A1-FF93-1463-49A9-81A7BDD6962C}"/>
          </ac:graphicFrameMkLst>
        </pc:graphicFrameChg>
        <pc:picChg chg="del">
          <ac:chgData name="Amusan, Ayobami" userId="9c7a1329-3d43-4a34-b735-568444e576e3" providerId="ADAL" clId="{FA198EE0-7B41-4953-A59E-87E83EF62265}" dt="2026-02-10T10:55:34.286" v="0" actId="26606"/>
          <ac:picMkLst>
            <pc:docMk/>
            <pc:sldMk cId="3281573856" sldId="261"/>
            <ac:picMk id="7" creationId="{A0061C78-05EF-D480-D9D3-F5E9378F174B}"/>
          </ac:picMkLst>
        </pc:picChg>
        <pc:picChg chg="add">
          <ac:chgData name="Amusan, Ayobami" userId="9c7a1329-3d43-4a34-b735-568444e576e3" providerId="ADAL" clId="{FA198EE0-7B41-4953-A59E-87E83EF62265}" dt="2026-02-10T11:00:09.432" v="11" actId="26606"/>
          <ac:picMkLst>
            <pc:docMk/>
            <pc:sldMk cId="3281573856" sldId="261"/>
            <ac:picMk id="9" creationId="{55CEF5C4-0A88-A818-01A4-DCFC8FC76701}"/>
          </ac:picMkLst>
        </pc:picChg>
        <pc:picChg chg="add del">
          <ac:chgData name="Amusan, Ayobami" userId="9c7a1329-3d43-4a34-b735-568444e576e3" providerId="ADAL" clId="{FA198EE0-7B41-4953-A59E-87E83EF62265}" dt="2026-02-10T10:55:38.837" v="4" actId="26606"/>
          <ac:picMkLst>
            <pc:docMk/>
            <pc:sldMk cId="3281573856" sldId="261"/>
            <ac:picMk id="18" creationId="{A0061C78-05EF-D480-D9D3-F5E9378F174B}"/>
          </ac:picMkLst>
        </pc:picChg>
        <pc:cxnChg chg="add">
          <ac:chgData name="Amusan, Ayobami" userId="9c7a1329-3d43-4a34-b735-568444e576e3" providerId="ADAL" clId="{FA198EE0-7B41-4953-A59E-87E83EF62265}" dt="2026-02-10T11:00:09.432" v="11" actId="26606"/>
          <ac:cxnSpMkLst>
            <pc:docMk/>
            <pc:sldMk cId="3281573856" sldId="261"/>
            <ac:cxnSpMk id="8" creationId="{8D59213C-2A55-4BC8-A954-66FF3D9E3282}"/>
          </ac:cxnSpMkLst>
        </pc:cxnChg>
        <pc:cxnChg chg="del">
          <ac:chgData name="Amusan, Ayobami" userId="9c7a1329-3d43-4a34-b735-568444e576e3" providerId="ADAL" clId="{FA198EE0-7B41-4953-A59E-87E83EF62265}" dt="2026-02-10T10:55:34.286" v="0" actId="26606"/>
          <ac:cxnSpMkLst>
            <pc:docMk/>
            <pc:sldMk cId="3281573856" sldId="261"/>
            <ac:cxnSpMk id="11" creationId="{8D59213C-2A55-4BC8-A954-66FF3D9E3282}"/>
          </ac:cxnSpMkLst>
        </pc:cxnChg>
        <pc:cxnChg chg="add del">
          <ac:chgData name="Amusan, Ayobami" userId="9c7a1329-3d43-4a34-b735-568444e576e3" providerId="ADAL" clId="{FA198EE0-7B41-4953-A59E-87E83EF62265}" dt="2026-02-10T10:55:37.019" v="2" actId="26606"/>
          <ac:cxnSpMkLst>
            <pc:docMk/>
            <pc:sldMk cId="3281573856" sldId="261"/>
            <ac:cxnSpMk id="13" creationId="{44C04868-2D54-41C4-AC40-1F5F584BF4A5}"/>
          </ac:cxnSpMkLst>
        </pc:cxnChg>
        <pc:cxnChg chg="add del">
          <ac:chgData name="Amusan, Ayobami" userId="9c7a1329-3d43-4a34-b735-568444e576e3" providerId="ADAL" clId="{FA198EE0-7B41-4953-A59E-87E83EF62265}" dt="2026-02-10T10:55:38.837" v="4" actId="26606"/>
          <ac:cxnSpMkLst>
            <pc:docMk/>
            <pc:sldMk cId="3281573856" sldId="261"/>
            <ac:cxnSpMk id="17" creationId="{8D59213C-2A55-4BC8-A954-66FF3D9E3282}"/>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7A1B28F-6A96-47EB-8EA3-6D4FE683B9A3}"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55F8C-713D-4767-837F-A4484B3E4373}"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25351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1B28F-6A96-47EB-8EA3-6D4FE683B9A3}"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370178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A1B28F-6A96-47EB-8EA3-6D4FE683B9A3}"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55F8C-713D-4767-837F-A4484B3E4373}"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02764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A1B28F-6A96-47EB-8EA3-6D4FE683B9A3}"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3376102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A1B28F-6A96-47EB-8EA3-6D4FE683B9A3}"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309993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A1B28F-6A96-47EB-8EA3-6D4FE683B9A3}"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403661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A1B28F-6A96-47EB-8EA3-6D4FE683B9A3}"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2700718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A1B28F-6A96-47EB-8EA3-6D4FE683B9A3}"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1109833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A1B28F-6A96-47EB-8EA3-6D4FE683B9A3}"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55F8C-713D-4767-837F-A4484B3E4373}"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749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1B28F-6A96-47EB-8EA3-6D4FE683B9A3}"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55F8C-713D-4767-837F-A4484B3E4373}" type="slidenum">
              <a:rPr lang="en-US" smtClean="0"/>
              <a:t>‹#›</a:t>
            </a:fld>
            <a:endParaRPr lang="en-US"/>
          </a:p>
        </p:txBody>
      </p:sp>
    </p:spTree>
    <p:extLst>
      <p:ext uri="{BB962C8B-B14F-4D97-AF65-F5344CB8AC3E}">
        <p14:creationId xmlns:p14="http://schemas.microsoft.com/office/powerpoint/2010/main" val="714249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1B28F-6A96-47EB-8EA3-6D4FE683B9A3}"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55F8C-713D-4767-837F-A4484B3E4373}"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58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7A1B28F-6A96-47EB-8EA3-6D4FE683B9A3}" type="datetimeFigureOut">
              <a:rPr lang="en-US" smtClean="0"/>
              <a:t>2/9/2026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4555F8C-713D-4767-837F-A4484B3E4373}"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13475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Underwater bubbles and sunlight">
            <a:extLst>
              <a:ext uri="{FF2B5EF4-FFF2-40B4-BE49-F238E27FC236}">
                <a16:creationId xmlns:a16="http://schemas.microsoft.com/office/drawing/2014/main" id="{F6590DDD-1021-BFBD-34B8-FB42D02F99A7}"/>
              </a:ext>
            </a:extLst>
          </p:cNvPr>
          <p:cNvPicPr>
            <a:picLocks noChangeAspect="1"/>
          </p:cNvPicPr>
          <p:nvPr/>
        </p:nvPicPr>
        <p:blipFill>
          <a:blip r:embed="rId2"/>
          <a:srcRect t="8766" b="6964"/>
          <a:stretch>
            <a:fill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A1E16061-037B-9A72-0B0F-8568DA94DB21}"/>
              </a:ext>
            </a:extLst>
          </p:cNvPr>
          <p:cNvSpPr>
            <a:spLocks noGrp="1"/>
          </p:cNvSpPr>
          <p:nvPr>
            <p:ph type="ctrTitle"/>
          </p:nvPr>
        </p:nvSpPr>
        <p:spPr>
          <a:xfrm>
            <a:off x="0" y="2438400"/>
            <a:ext cx="3214307" cy="1706880"/>
          </a:xfrm>
        </p:spPr>
        <p:txBody>
          <a:bodyPr anchor="b">
            <a:normAutofit/>
          </a:bodyPr>
          <a:lstStyle/>
          <a:p>
            <a:r>
              <a:rPr lang="en-US" sz="4000" dirty="0">
                <a:solidFill>
                  <a:srgbClr val="FFFFFF"/>
                </a:solidFill>
              </a:rPr>
              <a:t>Turning Climate Data into Clear Insights</a:t>
            </a:r>
          </a:p>
        </p:txBody>
      </p:sp>
      <p:sp>
        <p:nvSpPr>
          <p:cNvPr id="3" name="Subtitle 2">
            <a:extLst>
              <a:ext uri="{FF2B5EF4-FFF2-40B4-BE49-F238E27FC236}">
                <a16:creationId xmlns:a16="http://schemas.microsoft.com/office/drawing/2014/main" id="{8B97CBFF-6A7E-D008-854F-C05F252AAC99}"/>
              </a:ext>
            </a:extLst>
          </p:cNvPr>
          <p:cNvSpPr>
            <a:spLocks noGrp="1"/>
          </p:cNvSpPr>
          <p:nvPr>
            <p:ph type="subTitle" idx="1"/>
          </p:nvPr>
        </p:nvSpPr>
        <p:spPr>
          <a:xfrm>
            <a:off x="8667" y="4642104"/>
            <a:ext cx="3205640" cy="573024"/>
          </a:xfrm>
        </p:spPr>
        <p:txBody>
          <a:bodyPr anchor="t">
            <a:normAutofit lnSpcReduction="10000"/>
          </a:bodyPr>
          <a:lstStyle/>
          <a:p>
            <a:pPr algn="r">
              <a:lnSpc>
                <a:spcPct val="90000"/>
              </a:lnSpc>
            </a:pPr>
            <a:r>
              <a:rPr lang="en-US" sz="1200" dirty="0">
                <a:solidFill>
                  <a:srgbClr val="FFFFFF"/>
                </a:solidFill>
              </a:rPr>
              <a:t>This presentation uses simple, transparent analysis to uncover patterns, extremes, and realistic expectations from historical climate data.</a:t>
            </a:r>
          </a:p>
        </p:txBody>
      </p:sp>
      <p:sp>
        <p:nvSpPr>
          <p:cNvPr id="6" name="TextBox 5">
            <a:extLst>
              <a:ext uri="{FF2B5EF4-FFF2-40B4-BE49-F238E27FC236}">
                <a16:creationId xmlns:a16="http://schemas.microsoft.com/office/drawing/2014/main" id="{73B2E779-C01F-FEDB-1131-7A3286AFDC7A}"/>
              </a:ext>
            </a:extLst>
          </p:cNvPr>
          <p:cNvSpPr txBox="1"/>
          <p:nvPr/>
        </p:nvSpPr>
        <p:spPr>
          <a:xfrm>
            <a:off x="6096000" y="6181040"/>
            <a:ext cx="1615440" cy="461665"/>
          </a:xfrm>
          <a:prstGeom prst="rect">
            <a:avLst/>
          </a:prstGeom>
          <a:noFill/>
        </p:spPr>
        <p:txBody>
          <a:bodyPr wrap="square" rtlCol="0">
            <a:spAutoFit/>
          </a:bodyPr>
          <a:lstStyle/>
          <a:p>
            <a:r>
              <a:rPr lang="en-GB" sz="1200" dirty="0">
                <a:solidFill>
                  <a:schemeClr val="bg1"/>
                </a:solidFill>
                <a:latin typeface="Arial" panose="020B0604020202020204" pitchFamily="34" charset="0"/>
                <a:cs typeface="Arial" panose="020B0604020202020204" pitchFamily="34" charset="0"/>
              </a:rPr>
              <a:t>By </a:t>
            </a:r>
            <a:r>
              <a:rPr lang="en-US" sz="1200" b="1" dirty="0">
                <a:solidFill>
                  <a:schemeClr val="bg1"/>
                </a:solidFill>
                <a:latin typeface="&quot;Crimson Text&quot;"/>
              </a:rPr>
              <a:t>Ahmed Alimi Data analyst </a:t>
            </a:r>
            <a:endParaRPr lang="en-US" sz="1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279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66AC-0D2A-1898-ECD3-7C5F1A7A2259}"/>
              </a:ext>
            </a:extLst>
          </p:cNvPr>
          <p:cNvSpPr>
            <a:spLocks noGrp="1"/>
          </p:cNvSpPr>
          <p:nvPr>
            <p:ph type="title"/>
          </p:nvPr>
        </p:nvSpPr>
        <p:spPr/>
        <p:txBody>
          <a:bodyPr>
            <a:normAutofit/>
          </a:bodyPr>
          <a:lstStyle/>
          <a:p>
            <a:r>
              <a:rPr lang="en-US" dirty="0"/>
              <a:t>The Approach Taken</a:t>
            </a:r>
          </a:p>
        </p:txBody>
      </p:sp>
      <p:sp>
        <p:nvSpPr>
          <p:cNvPr id="7" name="Content Placeholder 6">
            <a:extLst>
              <a:ext uri="{FF2B5EF4-FFF2-40B4-BE49-F238E27FC236}">
                <a16:creationId xmlns:a16="http://schemas.microsoft.com/office/drawing/2014/main" id="{336CB03D-0307-2DC8-CE39-10FBA1A1A827}"/>
              </a:ext>
            </a:extLst>
          </p:cNvPr>
          <p:cNvSpPr>
            <a:spLocks noGrp="1"/>
          </p:cNvSpPr>
          <p:nvPr>
            <p:ph idx="1"/>
          </p:nvPr>
        </p:nvSpPr>
        <p:spPr>
          <a:xfrm>
            <a:off x="1023938" y="2286000"/>
            <a:ext cx="2768765" cy="4022725"/>
          </a:xfrm>
        </p:spPr>
        <p:txBody>
          <a:bodyPr>
            <a:normAutofit fontScale="92500"/>
          </a:bodyPr>
          <a:lstStyle/>
          <a:p>
            <a:r>
              <a:rPr lang="en-US" b="1" dirty="0"/>
              <a:t>1. Understanding the Data</a:t>
            </a:r>
          </a:p>
          <a:p>
            <a:r>
              <a:rPr lang="en-US" dirty="0"/>
              <a:t>-Reviewed the dataset structure and time coverage</a:t>
            </a:r>
          </a:p>
          <a:p>
            <a:r>
              <a:rPr lang="en-US" dirty="0"/>
              <a:t>-Identified key variables (temperature, rainfall, sunshine, frost)</a:t>
            </a:r>
          </a:p>
          <a:p>
            <a:r>
              <a:rPr lang="en-US" dirty="0"/>
              <a:t>-Noted missing values, estimated data, and measurement differences</a:t>
            </a:r>
          </a:p>
          <a:p>
            <a:endParaRPr lang="en-US" dirty="0"/>
          </a:p>
        </p:txBody>
      </p:sp>
      <p:sp>
        <p:nvSpPr>
          <p:cNvPr id="15" name="Rectangle 4">
            <a:extLst>
              <a:ext uri="{FF2B5EF4-FFF2-40B4-BE49-F238E27FC236}">
                <a16:creationId xmlns:a16="http://schemas.microsoft.com/office/drawing/2014/main" id="{96BB5923-9A88-CFF4-153F-F33C465C95F9}"/>
              </a:ext>
            </a:extLst>
          </p:cNvPr>
          <p:cNvSpPr>
            <a:spLocks noChangeArrowheads="1"/>
          </p:cNvSpPr>
          <p:nvPr/>
        </p:nvSpPr>
        <p:spPr bwMode="auto">
          <a:xfrm>
            <a:off x="3792703" y="2279636"/>
            <a:ext cx="294637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b="1" dirty="0"/>
              <a:t>2. </a:t>
            </a:r>
            <a:r>
              <a:rPr lang="en-US" b="1" dirty="0"/>
              <a:t>Data Cleaning &amp; Analysis</a:t>
            </a:r>
          </a:p>
          <a:p>
            <a:pPr lvl="0" defTabSz="91440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-Checked data quality and consistency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-Handled missing and estimated values transparently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-Summarized data to establish baseline behavior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-Used visuals to identify patterns and trends</a:t>
            </a:r>
          </a:p>
        </p:txBody>
      </p:sp>
      <p:sp>
        <p:nvSpPr>
          <p:cNvPr id="18" name="TextBox 17">
            <a:extLst>
              <a:ext uri="{FF2B5EF4-FFF2-40B4-BE49-F238E27FC236}">
                <a16:creationId xmlns:a16="http://schemas.microsoft.com/office/drawing/2014/main" id="{AFE40A1B-1C18-32C9-6710-E6B5C6623864}"/>
              </a:ext>
            </a:extLst>
          </p:cNvPr>
          <p:cNvSpPr txBox="1"/>
          <p:nvPr/>
        </p:nvSpPr>
        <p:spPr>
          <a:xfrm>
            <a:off x="7137376" y="2279636"/>
            <a:ext cx="2650091" cy="2585323"/>
          </a:xfrm>
          <a:prstGeom prst="rect">
            <a:avLst/>
          </a:prstGeom>
          <a:noFill/>
        </p:spPr>
        <p:txBody>
          <a:bodyPr wrap="square">
            <a:spAutoFit/>
          </a:bodyPr>
          <a:lstStyle/>
          <a:p>
            <a:pPr>
              <a:buNone/>
            </a:pPr>
            <a:r>
              <a:rPr lang="en-US" b="1" dirty="0"/>
              <a:t>3. Derive Trends &amp; Insights</a:t>
            </a:r>
          </a:p>
          <a:p>
            <a:pPr>
              <a:buNone/>
            </a:pPr>
            <a:endParaRPr lang="en-US" b="1" dirty="0"/>
          </a:p>
          <a:p>
            <a:r>
              <a:rPr lang="en-US" dirty="0"/>
              <a:t>-Identified seasonal patterns and long-term trends</a:t>
            </a:r>
          </a:p>
          <a:p>
            <a:r>
              <a:rPr lang="en-US" dirty="0"/>
              <a:t>-Explored variability and extreme values using visuals</a:t>
            </a:r>
          </a:p>
        </p:txBody>
      </p:sp>
      <p:sp>
        <p:nvSpPr>
          <p:cNvPr id="22" name="TextBox 21">
            <a:extLst>
              <a:ext uri="{FF2B5EF4-FFF2-40B4-BE49-F238E27FC236}">
                <a16:creationId xmlns:a16="http://schemas.microsoft.com/office/drawing/2014/main" id="{C54CDF98-32C9-53E1-E1CC-AC2BA4AD99EA}"/>
              </a:ext>
            </a:extLst>
          </p:cNvPr>
          <p:cNvSpPr txBox="1"/>
          <p:nvPr/>
        </p:nvSpPr>
        <p:spPr>
          <a:xfrm>
            <a:off x="9919567" y="2286000"/>
            <a:ext cx="1649266" cy="3970318"/>
          </a:xfrm>
          <a:prstGeom prst="rect">
            <a:avLst/>
          </a:prstGeom>
          <a:noFill/>
        </p:spPr>
        <p:txBody>
          <a:bodyPr wrap="square">
            <a:spAutoFit/>
          </a:bodyPr>
          <a:lstStyle/>
          <a:p>
            <a:pPr>
              <a:buNone/>
            </a:pPr>
            <a:r>
              <a:rPr lang="en-US" b="1" dirty="0"/>
              <a:t>4. Draw Conclusions &amp; Implications</a:t>
            </a:r>
          </a:p>
          <a:p>
            <a:r>
              <a:rPr lang="en-US" dirty="0"/>
              <a:t>-Combined findings into clear messages</a:t>
            </a:r>
          </a:p>
          <a:p>
            <a:r>
              <a:rPr lang="en-US" dirty="0"/>
              <a:t>-Explained what the results mean and their limitations</a:t>
            </a:r>
          </a:p>
          <a:p>
            <a:r>
              <a:rPr lang="en-US" dirty="0"/>
              <a:t>-Provided realistic expectations for future behavior</a:t>
            </a:r>
          </a:p>
        </p:txBody>
      </p:sp>
    </p:spTree>
    <p:extLst>
      <p:ext uri="{BB962C8B-B14F-4D97-AF65-F5344CB8AC3E}">
        <p14:creationId xmlns:p14="http://schemas.microsoft.com/office/powerpoint/2010/main" val="192710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1DACE-F3D7-4E50-BDF1-74E9ABBB1995}"/>
              </a:ext>
            </a:extLst>
          </p:cNvPr>
          <p:cNvSpPr>
            <a:spLocks noGrp="1"/>
          </p:cNvSpPr>
          <p:nvPr>
            <p:ph type="title"/>
          </p:nvPr>
        </p:nvSpPr>
        <p:spPr>
          <a:xfrm>
            <a:off x="791443" y="195892"/>
            <a:ext cx="9720072" cy="1499616"/>
          </a:xfrm>
        </p:spPr>
        <p:txBody>
          <a:bodyPr/>
          <a:lstStyle/>
          <a:p>
            <a:r>
              <a:rPr lang="en-US" b="1" dirty="0"/>
              <a:t>Understanding the Data</a:t>
            </a:r>
            <a:endParaRPr lang="en-US" dirty="0"/>
          </a:p>
        </p:txBody>
      </p:sp>
      <p:sp>
        <p:nvSpPr>
          <p:cNvPr id="3" name="Content Placeholder 2">
            <a:extLst>
              <a:ext uri="{FF2B5EF4-FFF2-40B4-BE49-F238E27FC236}">
                <a16:creationId xmlns:a16="http://schemas.microsoft.com/office/drawing/2014/main" id="{7C254702-841A-F448-F7D1-0F81FC889099}"/>
              </a:ext>
            </a:extLst>
          </p:cNvPr>
          <p:cNvSpPr>
            <a:spLocks noGrp="1"/>
          </p:cNvSpPr>
          <p:nvPr>
            <p:ph idx="1"/>
          </p:nvPr>
        </p:nvSpPr>
        <p:spPr>
          <a:xfrm>
            <a:off x="791443" y="1219734"/>
            <a:ext cx="10479258" cy="598739"/>
          </a:xfrm>
        </p:spPr>
        <p:txBody>
          <a:bodyPr>
            <a:normAutofit fontScale="92500" lnSpcReduction="10000"/>
          </a:bodyPr>
          <a:lstStyle/>
          <a:p>
            <a:r>
              <a:rPr lang="en-US" dirty="0"/>
              <a:t>Following the CRISP-DM framework, the first analytical step was data understanding.</a:t>
            </a:r>
            <a:br>
              <a:rPr lang="en-US" dirty="0"/>
            </a:br>
            <a:endParaRPr lang="en-US" dirty="0"/>
          </a:p>
        </p:txBody>
      </p:sp>
      <p:pic>
        <p:nvPicPr>
          <p:cNvPr id="8" name="Picture 7" descr="A graph of a temperature&#10;&#10;AI-generated content may be incorrect.">
            <a:extLst>
              <a:ext uri="{FF2B5EF4-FFF2-40B4-BE49-F238E27FC236}">
                <a16:creationId xmlns:a16="http://schemas.microsoft.com/office/drawing/2014/main" id="{13166DB7-9563-6960-A80E-B767D63C8BF2}"/>
              </a:ext>
            </a:extLst>
          </p:cNvPr>
          <p:cNvPicPr>
            <a:picLocks noChangeAspect="1"/>
          </p:cNvPicPr>
          <p:nvPr/>
        </p:nvPicPr>
        <p:blipFill>
          <a:blip r:embed="rId2"/>
          <a:stretch>
            <a:fillRect/>
          </a:stretch>
        </p:blipFill>
        <p:spPr>
          <a:xfrm>
            <a:off x="791443" y="4924190"/>
            <a:ext cx="2515553" cy="1801753"/>
          </a:xfrm>
          <a:prstGeom prst="rect">
            <a:avLst/>
          </a:prstGeom>
        </p:spPr>
      </p:pic>
      <p:pic>
        <p:nvPicPr>
          <p:cNvPr id="10" name="Picture 9" descr="A graph of a temperature&#10;&#10;AI-generated content may be incorrect.">
            <a:extLst>
              <a:ext uri="{FF2B5EF4-FFF2-40B4-BE49-F238E27FC236}">
                <a16:creationId xmlns:a16="http://schemas.microsoft.com/office/drawing/2014/main" id="{D3A87991-825B-3D76-B022-6D7B33DA4D37}"/>
              </a:ext>
            </a:extLst>
          </p:cNvPr>
          <p:cNvPicPr>
            <a:picLocks noChangeAspect="1"/>
          </p:cNvPicPr>
          <p:nvPr/>
        </p:nvPicPr>
        <p:blipFill>
          <a:blip r:embed="rId3"/>
          <a:stretch>
            <a:fillRect/>
          </a:stretch>
        </p:blipFill>
        <p:spPr>
          <a:xfrm>
            <a:off x="3629364" y="4924189"/>
            <a:ext cx="2743200" cy="1801753"/>
          </a:xfrm>
          <a:prstGeom prst="rect">
            <a:avLst/>
          </a:prstGeom>
        </p:spPr>
      </p:pic>
      <p:pic>
        <p:nvPicPr>
          <p:cNvPr id="12" name="Picture 11" descr="A graph of a number of bars&#10;&#10;AI-generated content may be incorrect.">
            <a:extLst>
              <a:ext uri="{FF2B5EF4-FFF2-40B4-BE49-F238E27FC236}">
                <a16:creationId xmlns:a16="http://schemas.microsoft.com/office/drawing/2014/main" id="{3B71EFD6-AF07-BE95-4313-25E25FD909AF}"/>
              </a:ext>
            </a:extLst>
          </p:cNvPr>
          <p:cNvPicPr>
            <a:picLocks noChangeAspect="1"/>
          </p:cNvPicPr>
          <p:nvPr/>
        </p:nvPicPr>
        <p:blipFill>
          <a:blip r:embed="rId4"/>
          <a:stretch>
            <a:fillRect/>
          </a:stretch>
        </p:blipFill>
        <p:spPr>
          <a:xfrm>
            <a:off x="6635162" y="4912247"/>
            <a:ext cx="2647231" cy="1801753"/>
          </a:xfrm>
          <a:prstGeom prst="rect">
            <a:avLst/>
          </a:prstGeom>
        </p:spPr>
      </p:pic>
      <p:pic>
        <p:nvPicPr>
          <p:cNvPr id="14" name="Picture 13" descr="A graph with blue squares&#10;&#10;AI-generated content may be incorrect.">
            <a:extLst>
              <a:ext uri="{FF2B5EF4-FFF2-40B4-BE49-F238E27FC236}">
                <a16:creationId xmlns:a16="http://schemas.microsoft.com/office/drawing/2014/main" id="{62DFD86F-DBCA-7C35-FB40-30E90C3FAC00}"/>
              </a:ext>
            </a:extLst>
          </p:cNvPr>
          <p:cNvPicPr>
            <a:picLocks noChangeAspect="1"/>
          </p:cNvPicPr>
          <p:nvPr/>
        </p:nvPicPr>
        <p:blipFill>
          <a:blip r:embed="rId5"/>
          <a:stretch>
            <a:fillRect/>
          </a:stretch>
        </p:blipFill>
        <p:spPr>
          <a:xfrm>
            <a:off x="9457740" y="4924189"/>
            <a:ext cx="2640856" cy="1801753"/>
          </a:xfrm>
          <a:prstGeom prst="rect">
            <a:avLst/>
          </a:prstGeom>
        </p:spPr>
      </p:pic>
      <p:sp>
        <p:nvSpPr>
          <p:cNvPr id="15" name="TextBox 14">
            <a:extLst>
              <a:ext uri="{FF2B5EF4-FFF2-40B4-BE49-F238E27FC236}">
                <a16:creationId xmlns:a16="http://schemas.microsoft.com/office/drawing/2014/main" id="{89FABC86-A1A4-6582-6818-B1557981AD66}"/>
              </a:ext>
            </a:extLst>
          </p:cNvPr>
          <p:cNvSpPr txBox="1"/>
          <p:nvPr/>
        </p:nvSpPr>
        <p:spPr>
          <a:xfrm>
            <a:off x="921299" y="1695508"/>
            <a:ext cx="4013946" cy="2585323"/>
          </a:xfrm>
          <a:prstGeom prst="rect">
            <a:avLst/>
          </a:prstGeom>
          <a:noFill/>
        </p:spPr>
        <p:txBody>
          <a:bodyPr wrap="square" rtlCol="0">
            <a:spAutoFit/>
          </a:bodyPr>
          <a:lstStyle/>
          <a:p>
            <a:r>
              <a:rPr lang="en-US" b="1" dirty="0"/>
              <a:t>Dataset Overview</a:t>
            </a:r>
          </a:p>
          <a:p>
            <a:r>
              <a:rPr lang="en-US" dirty="0"/>
              <a:t>The dataset consists of monthly climate observations recorded over several decades, structured by year and month, and includes measurements of maximum and minimum temperature, rainfall, sunshine hours, and air frost days, enabling both seasonal and long-term analysis</a:t>
            </a:r>
          </a:p>
        </p:txBody>
      </p:sp>
      <p:sp>
        <p:nvSpPr>
          <p:cNvPr id="17" name="TextBox 16">
            <a:extLst>
              <a:ext uri="{FF2B5EF4-FFF2-40B4-BE49-F238E27FC236}">
                <a16:creationId xmlns:a16="http://schemas.microsoft.com/office/drawing/2014/main" id="{2B2BEDAC-7355-B6D1-1706-AAB4DF3FE3FD}"/>
              </a:ext>
            </a:extLst>
          </p:cNvPr>
          <p:cNvSpPr txBox="1"/>
          <p:nvPr/>
        </p:nvSpPr>
        <p:spPr>
          <a:xfrm>
            <a:off x="5042713" y="1695508"/>
            <a:ext cx="4013945" cy="2585323"/>
          </a:xfrm>
          <a:prstGeom prst="rect">
            <a:avLst/>
          </a:prstGeom>
          <a:noFill/>
        </p:spPr>
        <p:txBody>
          <a:bodyPr wrap="square">
            <a:spAutoFit/>
          </a:bodyPr>
          <a:lstStyle/>
          <a:p>
            <a:pPr>
              <a:buNone/>
            </a:pPr>
            <a:r>
              <a:rPr lang="en-US" b="1" dirty="0"/>
              <a:t>Distribution of Key Variables</a:t>
            </a:r>
          </a:p>
          <a:p>
            <a:pPr>
              <a:buFont typeface="Arial" panose="020B0604020202020204" pitchFamily="34" charset="0"/>
              <a:buChar char="•"/>
            </a:pPr>
            <a:r>
              <a:rPr lang="en-US" dirty="0"/>
              <a:t>Temperature distributions show </a:t>
            </a:r>
            <a:r>
              <a:rPr lang="en-US" b="1" dirty="0"/>
              <a:t>clear clustering</a:t>
            </a:r>
            <a:r>
              <a:rPr lang="en-US" dirty="0"/>
              <a:t>, reflecting seasonal patterns</a:t>
            </a:r>
          </a:p>
          <a:p>
            <a:pPr>
              <a:buFont typeface="Arial" panose="020B0604020202020204" pitchFamily="34" charset="0"/>
              <a:buChar char="•"/>
            </a:pPr>
            <a:r>
              <a:rPr lang="en-US" dirty="0"/>
              <a:t>Maximum and minimum temperatures display </a:t>
            </a:r>
            <a:r>
              <a:rPr lang="en-US" b="1" dirty="0"/>
              <a:t>consistent ranges</a:t>
            </a:r>
            <a:r>
              <a:rPr lang="en-US" dirty="0"/>
              <a:t> with few extremes</a:t>
            </a:r>
          </a:p>
          <a:p>
            <a:pPr>
              <a:buFont typeface="Arial" panose="020B0604020202020204" pitchFamily="34" charset="0"/>
              <a:buChar char="•"/>
            </a:pPr>
            <a:r>
              <a:rPr lang="en-US" dirty="0"/>
              <a:t>Rainfall distribution is </a:t>
            </a:r>
            <a:r>
              <a:rPr lang="en-US" b="1" dirty="0"/>
              <a:t>positively skewed</a:t>
            </a:r>
            <a:r>
              <a:rPr lang="en-US" dirty="0"/>
              <a:t>, with most months having moderate rainfall and a small number of very wet months</a:t>
            </a:r>
          </a:p>
        </p:txBody>
      </p:sp>
      <p:sp>
        <p:nvSpPr>
          <p:cNvPr id="19" name="TextBox 18">
            <a:extLst>
              <a:ext uri="{FF2B5EF4-FFF2-40B4-BE49-F238E27FC236}">
                <a16:creationId xmlns:a16="http://schemas.microsoft.com/office/drawing/2014/main" id="{FC8C4873-A02F-0A16-A6AD-61B74D3123D1}"/>
              </a:ext>
            </a:extLst>
          </p:cNvPr>
          <p:cNvSpPr txBox="1"/>
          <p:nvPr/>
        </p:nvSpPr>
        <p:spPr>
          <a:xfrm>
            <a:off x="9196040" y="1476462"/>
            <a:ext cx="2743200" cy="3416320"/>
          </a:xfrm>
          <a:prstGeom prst="rect">
            <a:avLst/>
          </a:prstGeom>
          <a:noFill/>
        </p:spPr>
        <p:txBody>
          <a:bodyPr wrap="square">
            <a:spAutoFit/>
          </a:bodyPr>
          <a:lstStyle/>
          <a:p>
            <a:pPr>
              <a:buNone/>
            </a:pPr>
            <a:r>
              <a:rPr lang="en-US" b="1" dirty="0"/>
              <a:t>Data Completeness &amp; Quality</a:t>
            </a:r>
          </a:p>
          <a:p>
            <a:pPr>
              <a:buFont typeface="Arial" panose="020B0604020202020204" pitchFamily="34" charset="0"/>
              <a:buChar char="•"/>
            </a:pPr>
            <a:r>
              <a:rPr lang="en-US" dirty="0"/>
              <a:t>Most variables are </a:t>
            </a:r>
            <a:r>
              <a:rPr lang="en-US" b="1" dirty="0"/>
              <a:t>highly complete</a:t>
            </a:r>
            <a:endParaRPr lang="en-US" dirty="0"/>
          </a:p>
          <a:p>
            <a:pPr>
              <a:buFont typeface="Arial" panose="020B0604020202020204" pitchFamily="34" charset="0"/>
              <a:buChar char="•"/>
            </a:pPr>
            <a:r>
              <a:rPr lang="en-US" dirty="0"/>
              <a:t>Air frost days contain the </a:t>
            </a:r>
            <a:r>
              <a:rPr lang="en-US" b="1" dirty="0"/>
              <a:t>highest proportion of missing values</a:t>
            </a:r>
            <a:endParaRPr lang="en-US" dirty="0"/>
          </a:p>
          <a:p>
            <a:pPr>
              <a:buFont typeface="Arial" panose="020B0604020202020204" pitchFamily="34" charset="0"/>
              <a:buChar char="•"/>
            </a:pPr>
            <a:r>
              <a:rPr lang="en-US" dirty="0"/>
              <a:t>Rainfall data is </a:t>
            </a:r>
            <a:r>
              <a:rPr lang="en-US" b="1" dirty="0"/>
              <a:t>fully complete</a:t>
            </a:r>
            <a:endParaRPr lang="en-US" dirty="0"/>
          </a:p>
          <a:p>
            <a:pPr>
              <a:buFont typeface="Arial" panose="020B0604020202020204" pitchFamily="34" charset="0"/>
              <a:buChar char="•"/>
            </a:pPr>
            <a:r>
              <a:rPr lang="en-US" dirty="0"/>
              <a:t>Estimated values are </a:t>
            </a:r>
            <a:r>
              <a:rPr lang="en-US" b="1" dirty="0"/>
              <a:t>minimal</a:t>
            </a:r>
            <a:r>
              <a:rPr lang="en-US" dirty="0"/>
              <a:t> and mainly affect sunshine hours</a:t>
            </a:r>
          </a:p>
        </p:txBody>
      </p:sp>
    </p:spTree>
    <p:extLst>
      <p:ext uri="{BB962C8B-B14F-4D97-AF65-F5344CB8AC3E}">
        <p14:creationId xmlns:p14="http://schemas.microsoft.com/office/powerpoint/2010/main" val="74573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E2F3-ED4B-3A3D-EEED-B2401B4AB74C}"/>
              </a:ext>
            </a:extLst>
          </p:cNvPr>
          <p:cNvSpPr>
            <a:spLocks noGrp="1"/>
          </p:cNvSpPr>
          <p:nvPr>
            <p:ph type="title"/>
          </p:nvPr>
        </p:nvSpPr>
        <p:spPr>
          <a:xfrm>
            <a:off x="1024127" y="585216"/>
            <a:ext cx="7105745" cy="1499616"/>
          </a:xfrm>
        </p:spPr>
        <p:txBody>
          <a:bodyPr>
            <a:normAutofit/>
          </a:bodyPr>
          <a:lstStyle/>
          <a:p>
            <a:r>
              <a:rPr lang="en-US" b="1" dirty="0"/>
              <a:t>Data Cleaning &amp; Analysis</a:t>
            </a:r>
            <a:br>
              <a:rPr lang="en-US" b="1" dirty="0"/>
            </a:br>
            <a:endParaRPr lang="en-US" dirty="0"/>
          </a:p>
        </p:txBody>
      </p:sp>
      <p:cxnSp>
        <p:nvCxnSpPr>
          <p:cNvPr id="28" name="Straight Connector 27">
            <a:extLst>
              <a:ext uri="{FF2B5EF4-FFF2-40B4-BE49-F238E27FC236}">
                <a16:creationId xmlns:a16="http://schemas.microsoft.com/office/drawing/2014/main" id="{DEDFEB1F-97D4-46FE-9FC6-A942320375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1FA1A"/>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9F5E9113-9B0F-5FA2-0109-6B2066C5A466}"/>
              </a:ext>
            </a:extLst>
          </p:cNvPr>
          <p:cNvSpPr>
            <a:spLocks noGrp="1"/>
          </p:cNvSpPr>
          <p:nvPr>
            <p:ph idx="1"/>
          </p:nvPr>
        </p:nvSpPr>
        <p:spPr>
          <a:xfrm>
            <a:off x="771144" y="1481816"/>
            <a:ext cx="6254496" cy="3894368"/>
          </a:xfrm>
        </p:spPr>
        <p:txBody>
          <a:bodyPr>
            <a:normAutofit lnSpcReduction="10000"/>
          </a:bodyPr>
          <a:lstStyle/>
          <a:p>
            <a:r>
              <a:rPr lang="en-US" b="1" dirty="0"/>
              <a:t>Data Cleaning &amp; Analysis</a:t>
            </a:r>
          </a:p>
          <a:p>
            <a:r>
              <a:rPr lang="en-US" b="1" dirty="0"/>
              <a:t>The data was cleaned and </a:t>
            </a:r>
            <a:r>
              <a:rPr lang="en-US" b="1" dirty="0" err="1"/>
              <a:t>standardised</a:t>
            </a:r>
            <a:r>
              <a:rPr lang="en-US" dirty="0"/>
              <a:t> by addressing missing and estimated values and aligning all records consistently over time to ensure reliable comparisons.</a:t>
            </a:r>
          </a:p>
          <a:p>
            <a:r>
              <a:rPr lang="en-US" b="1" dirty="0"/>
              <a:t>Long-term trends and seasonal patterns were </a:t>
            </a:r>
            <a:r>
              <a:rPr lang="en-US" b="1" dirty="0" err="1"/>
              <a:t>analysed</a:t>
            </a:r>
            <a:r>
              <a:rPr lang="en-US" dirty="0"/>
              <a:t> using averages, rolling trends, and monthly summaries, revealing both a clear warming trend and predictable seasonal </a:t>
            </a:r>
            <a:r>
              <a:rPr lang="en-US" dirty="0" err="1"/>
              <a:t>behaviour</a:t>
            </a:r>
            <a:r>
              <a:rPr lang="en-US" dirty="0"/>
              <a:t>.</a:t>
            </a:r>
          </a:p>
          <a:p>
            <a:r>
              <a:rPr lang="en-US" b="1" dirty="0"/>
              <a:t>Key relationships between variables were explored</a:t>
            </a:r>
            <a:r>
              <a:rPr lang="en-US" dirty="0"/>
              <a:t> using simple statistical techniques, showing a strong positive link between temperature and sunshine levels.</a:t>
            </a:r>
          </a:p>
          <a:p>
            <a:endParaRPr lang="en-US" dirty="0"/>
          </a:p>
        </p:txBody>
      </p:sp>
      <p:pic>
        <p:nvPicPr>
          <p:cNvPr id="5" name="Content Placeholder 4" descr="A graph showing the temperature of a person&#10;&#10;AI-generated content may be incorrect.">
            <a:extLst>
              <a:ext uri="{FF2B5EF4-FFF2-40B4-BE49-F238E27FC236}">
                <a16:creationId xmlns:a16="http://schemas.microsoft.com/office/drawing/2014/main" id="{21AC5FDC-D39C-84A2-89F1-DA4F5B3904AD}"/>
              </a:ext>
            </a:extLst>
          </p:cNvPr>
          <p:cNvPicPr>
            <a:picLocks noChangeAspect="1"/>
          </p:cNvPicPr>
          <p:nvPr/>
        </p:nvPicPr>
        <p:blipFill>
          <a:blip r:embed="rId2"/>
          <a:stretch>
            <a:fillRect/>
          </a:stretch>
        </p:blipFill>
        <p:spPr>
          <a:xfrm>
            <a:off x="7360918" y="1283524"/>
            <a:ext cx="4279394" cy="1668270"/>
          </a:xfrm>
          <a:prstGeom prst="rect">
            <a:avLst/>
          </a:prstGeom>
        </p:spPr>
      </p:pic>
      <p:pic>
        <p:nvPicPr>
          <p:cNvPr id="7" name="Picture 6" descr="A graph showing the average temperature&#10;&#10;AI-generated content may be incorrect.">
            <a:extLst>
              <a:ext uri="{FF2B5EF4-FFF2-40B4-BE49-F238E27FC236}">
                <a16:creationId xmlns:a16="http://schemas.microsoft.com/office/drawing/2014/main" id="{174654AA-4D14-70EB-70CE-81A41A52FADB}"/>
              </a:ext>
            </a:extLst>
          </p:cNvPr>
          <p:cNvPicPr>
            <a:picLocks noChangeAspect="1"/>
          </p:cNvPicPr>
          <p:nvPr/>
        </p:nvPicPr>
        <p:blipFill>
          <a:blip r:embed="rId3"/>
          <a:stretch>
            <a:fillRect/>
          </a:stretch>
        </p:blipFill>
        <p:spPr>
          <a:xfrm>
            <a:off x="7360918" y="3158380"/>
            <a:ext cx="4279394" cy="1467647"/>
          </a:xfrm>
          <a:prstGeom prst="rect">
            <a:avLst/>
          </a:prstGeom>
        </p:spPr>
      </p:pic>
      <p:pic>
        <p:nvPicPr>
          <p:cNvPr id="10" name="Picture 9" descr="A graph showing the temperature and the temperature of the sun&#10;&#10;AI-generated content may be incorrect.">
            <a:extLst>
              <a:ext uri="{FF2B5EF4-FFF2-40B4-BE49-F238E27FC236}">
                <a16:creationId xmlns:a16="http://schemas.microsoft.com/office/drawing/2014/main" id="{933DB3CB-02DC-09A0-0E02-B4836208BF7D}"/>
              </a:ext>
            </a:extLst>
          </p:cNvPr>
          <p:cNvPicPr>
            <a:picLocks noChangeAspect="1"/>
          </p:cNvPicPr>
          <p:nvPr/>
        </p:nvPicPr>
        <p:blipFill>
          <a:blip r:embed="rId4"/>
          <a:stretch>
            <a:fillRect/>
          </a:stretch>
        </p:blipFill>
        <p:spPr>
          <a:xfrm>
            <a:off x="7388636" y="4759166"/>
            <a:ext cx="4251675" cy="1696274"/>
          </a:xfrm>
          <a:prstGeom prst="rect">
            <a:avLst/>
          </a:prstGeom>
        </p:spPr>
      </p:pic>
    </p:spTree>
    <p:extLst>
      <p:ext uri="{BB962C8B-B14F-4D97-AF65-F5344CB8AC3E}">
        <p14:creationId xmlns:p14="http://schemas.microsoft.com/office/powerpoint/2010/main" val="2387261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CE52A-ADE7-7E9F-17A2-62A02FB36A00}"/>
              </a:ext>
            </a:extLst>
          </p:cNvPr>
          <p:cNvSpPr>
            <a:spLocks noGrp="1"/>
          </p:cNvSpPr>
          <p:nvPr>
            <p:ph type="title"/>
          </p:nvPr>
        </p:nvSpPr>
        <p:spPr/>
        <p:txBody>
          <a:bodyPr/>
          <a:lstStyle/>
          <a:p>
            <a:r>
              <a:rPr lang="en-US" b="1" dirty="0"/>
              <a:t>3. Derive Trends &amp; Insights</a:t>
            </a:r>
            <a:endParaRPr lang="en-US" dirty="0"/>
          </a:p>
        </p:txBody>
      </p:sp>
      <p:pic>
        <p:nvPicPr>
          <p:cNvPr id="5" name="Content Placeholder 4" descr="A graph showing the average temperature&#10;&#10;AI-generated content may be incorrect.">
            <a:extLst>
              <a:ext uri="{FF2B5EF4-FFF2-40B4-BE49-F238E27FC236}">
                <a16:creationId xmlns:a16="http://schemas.microsoft.com/office/drawing/2014/main" id="{D9101DD1-6902-9D6B-8AE0-8BCF40E8A8FF}"/>
              </a:ext>
            </a:extLst>
          </p:cNvPr>
          <p:cNvPicPr>
            <a:picLocks noGrp="1" noChangeAspect="1"/>
          </p:cNvPicPr>
          <p:nvPr>
            <p:ph idx="1"/>
          </p:nvPr>
        </p:nvPicPr>
        <p:blipFill>
          <a:blip r:embed="rId2"/>
          <a:stretch>
            <a:fillRect/>
          </a:stretch>
        </p:blipFill>
        <p:spPr>
          <a:xfrm>
            <a:off x="7420708" y="4747846"/>
            <a:ext cx="4771292" cy="1959630"/>
          </a:xfrm>
          <a:prstGeom prst="rect">
            <a:avLst/>
          </a:prstGeom>
        </p:spPr>
      </p:pic>
      <p:sp>
        <p:nvSpPr>
          <p:cNvPr id="12" name="TextBox 11">
            <a:extLst>
              <a:ext uri="{FF2B5EF4-FFF2-40B4-BE49-F238E27FC236}">
                <a16:creationId xmlns:a16="http://schemas.microsoft.com/office/drawing/2014/main" id="{E304318C-B097-5ED3-1CD0-587F142CAE4B}"/>
              </a:ext>
            </a:extLst>
          </p:cNvPr>
          <p:cNvSpPr txBox="1"/>
          <p:nvPr/>
        </p:nvSpPr>
        <p:spPr>
          <a:xfrm>
            <a:off x="1024128" y="2121200"/>
            <a:ext cx="6396580"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 clear long-term warming trend is evident</a:t>
            </a:r>
            <a:r>
              <a:rPr kumimoji="0" lang="en-US" altLang="en-US" sz="1800" b="0" i="0" u="none" strike="noStrike" cap="none" normalizeH="0" baseline="0" dirty="0">
                <a:ln>
                  <a:noFill/>
                </a:ln>
                <a:solidFill>
                  <a:schemeClr val="tx1"/>
                </a:solidFill>
                <a:effectLst/>
                <a:latin typeface="Arial" panose="020B0604020202020204" pitchFamily="34" charset="0"/>
              </a:rPr>
              <a:t>, with average temperatures steadily increasing over time beyond normal year-to-year variation.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Seasonal patterns remain consistent</a:t>
            </a:r>
            <a:r>
              <a:rPr kumimoji="0" lang="en-US" altLang="en-US" sz="1800" b="0" i="0" u="none" strike="noStrike" cap="none" normalizeH="0" baseline="0" dirty="0">
                <a:ln>
                  <a:noFill/>
                </a:ln>
                <a:solidFill>
                  <a:schemeClr val="tx1"/>
                </a:solidFill>
                <a:effectLst/>
                <a:latin typeface="Arial" panose="020B0604020202020204" pitchFamily="34" charset="0"/>
              </a:rPr>
              <a:t>, with predictable summer peaks and winter lows repeating across decades.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Temperature is strongly linked to sunshine</a:t>
            </a:r>
            <a:r>
              <a:rPr kumimoji="0" lang="en-US" altLang="en-US" sz="1800" b="0" i="0" u="none" strike="noStrike" cap="none" normalizeH="0" baseline="0" dirty="0">
                <a:ln>
                  <a:noFill/>
                </a:ln>
                <a:solidFill>
                  <a:schemeClr val="tx1"/>
                </a:solidFill>
                <a:effectLst/>
                <a:latin typeface="Arial" panose="020B0604020202020204" pitchFamily="34" charset="0"/>
              </a:rPr>
              <a:t>, reinforcing confidence in the observed climate </a:t>
            </a:r>
            <a:r>
              <a:rPr kumimoji="0" lang="en-US" altLang="en-US" sz="1800" b="0" i="0" u="none" strike="noStrike" cap="none" normalizeH="0" baseline="0" dirty="0" err="1">
                <a:ln>
                  <a:noFill/>
                </a:ln>
                <a:solidFill>
                  <a:schemeClr val="tx1"/>
                </a:solidFill>
                <a:effectLst/>
                <a:latin typeface="Arial" panose="020B0604020202020204" pitchFamily="34" charset="0"/>
              </a:rPr>
              <a:t>behaviour</a:t>
            </a:r>
            <a:r>
              <a:rPr kumimoji="0" lang="en-US" altLang="en-US" sz="1800" b="0" i="0" u="none" strike="noStrike" cap="none" normalizeH="0" baseline="0" dirty="0">
                <a:ln>
                  <a:noFill/>
                </a:ln>
                <a:solidFill>
                  <a:schemeClr val="tx1"/>
                </a:solidFill>
                <a:effectLst/>
                <a:latin typeface="Arial" panose="020B0604020202020204" pitchFamily="34" charset="0"/>
              </a:rPr>
              <a:t> and short-term outlook.</a:t>
            </a:r>
          </a:p>
        </p:txBody>
      </p:sp>
      <p:pic>
        <p:nvPicPr>
          <p:cNvPr id="14" name="Picture 13" descr="A graph showing the weather&#10;&#10;AI-generated content may be incorrect.">
            <a:extLst>
              <a:ext uri="{FF2B5EF4-FFF2-40B4-BE49-F238E27FC236}">
                <a16:creationId xmlns:a16="http://schemas.microsoft.com/office/drawing/2014/main" id="{B9AAECF4-6EE1-346A-B762-798FA766D7FC}"/>
              </a:ext>
            </a:extLst>
          </p:cNvPr>
          <p:cNvPicPr>
            <a:picLocks noChangeAspect="1"/>
          </p:cNvPicPr>
          <p:nvPr/>
        </p:nvPicPr>
        <p:blipFill>
          <a:blip r:embed="rId3"/>
          <a:stretch>
            <a:fillRect/>
          </a:stretch>
        </p:blipFill>
        <p:spPr>
          <a:xfrm>
            <a:off x="7420708" y="2121200"/>
            <a:ext cx="4771292" cy="2312746"/>
          </a:xfrm>
          <a:prstGeom prst="rect">
            <a:avLst/>
          </a:prstGeom>
        </p:spPr>
      </p:pic>
    </p:spTree>
    <p:extLst>
      <p:ext uri="{BB962C8B-B14F-4D97-AF65-F5344CB8AC3E}">
        <p14:creationId xmlns:p14="http://schemas.microsoft.com/office/powerpoint/2010/main" val="1405632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E031-2A73-DA9E-FFB2-8E66FCAD596B}"/>
              </a:ext>
            </a:extLst>
          </p:cNvPr>
          <p:cNvSpPr>
            <a:spLocks noGrp="1"/>
          </p:cNvSpPr>
          <p:nvPr>
            <p:ph type="title"/>
          </p:nvPr>
        </p:nvSpPr>
        <p:spPr/>
        <p:txBody>
          <a:bodyPr/>
          <a:lstStyle/>
          <a:p>
            <a:r>
              <a:rPr lang="en-US" b="1" dirty="0"/>
              <a:t>Forecasting &amp; Limitations</a:t>
            </a:r>
            <a:br>
              <a:rPr lang="en-US" b="1" dirty="0"/>
            </a:br>
            <a:endParaRPr lang="en-US" dirty="0"/>
          </a:p>
        </p:txBody>
      </p:sp>
      <p:sp>
        <p:nvSpPr>
          <p:cNvPr id="3" name="Content Placeholder 2">
            <a:extLst>
              <a:ext uri="{FF2B5EF4-FFF2-40B4-BE49-F238E27FC236}">
                <a16:creationId xmlns:a16="http://schemas.microsoft.com/office/drawing/2014/main" id="{0E030A97-0D62-09A5-58CE-B4CC50005C64}"/>
              </a:ext>
            </a:extLst>
          </p:cNvPr>
          <p:cNvSpPr>
            <a:spLocks noGrp="1"/>
          </p:cNvSpPr>
          <p:nvPr>
            <p:ph idx="1"/>
          </p:nvPr>
        </p:nvSpPr>
        <p:spPr>
          <a:xfrm>
            <a:off x="1024129" y="2286000"/>
            <a:ext cx="5552517" cy="3569677"/>
          </a:xfrm>
        </p:spPr>
        <p:txBody>
          <a:bodyPr>
            <a:normAutofit fontScale="92500" lnSpcReduction="10000"/>
          </a:bodyPr>
          <a:lstStyle/>
          <a:p>
            <a:r>
              <a:rPr lang="en-US" b="1" dirty="0"/>
              <a:t>A short-term temperature forecast was produced</a:t>
            </a:r>
            <a:r>
              <a:rPr lang="en-US" dirty="0"/>
              <a:t> using a seasonal approach, assuming future months follow historical seasonal patterns observed in the data.</a:t>
            </a:r>
          </a:p>
          <a:p>
            <a:r>
              <a:rPr lang="en-US" b="1" dirty="0"/>
              <a:t>An uncertainty range was included</a:t>
            </a:r>
            <a:r>
              <a:rPr lang="en-US" dirty="0"/>
              <a:t> to show the typical variation around the forecast, helping to communicate that predictions are approximate rather than exact values.</a:t>
            </a:r>
          </a:p>
          <a:p>
            <a:r>
              <a:rPr lang="en-US" b="1" dirty="0"/>
              <a:t>Forecast confidence decreases over time</a:t>
            </a:r>
            <a:r>
              <a:rPr lang="en-US" dirty="0"/>
              <a:t>, as unexpected events and longer-term changes are not captured, so results should be interpreted as indicative trends rather than precise outcomes.</a:t>
            </a:r>
          </a:p>
          <a:p>
            <a:endParaRPr lang="en-US" dirty="0"/>
          </a:p>
        </p:txBody>
      </p:sp>
      <p:pic>
        <p:nvPicPr>
          <p:cNvPr id="5" name="Picture 4" descr="A graph with blue lines and white text&#10;&#10;AI-generated content may be incorrect.">
            <a:extLst>
              <a:ext uri="{FF2B5EF4-FFF2-40B4-BE49-F238E27FC236}">
                <a16:creationId xmlns:a16="http://schemas.microsoft.com/office/drawing/2014/main" id="{5A5AA0CA-1B78-0D27-F575-E7C3E35FCDA5}"/>
              </a:ext>
            </a:extLst>
          </p:cNvPr>
          <p:cNvPicPr>
            <a:picLocks noChangeAspect="1"/>
          </p:cNvPicPr>
          <p:nvPr/>
        </p:nvPicPr>
        <p:blipFill>
          <a:blip r:embed="rId2"/>
          <a:stretch>
            <a:fillRect/>
          </a:stretch>
        </p:blipFill>
        <p:spPr>
          <a:xfrm>
            <a:off x="6639483" y="4500081"/>
            <a:ext cx="5552517" cy="2111734"/>
          </a:xfrm>
          <a:prstGeom prst="rect">
            <a:avLst/>
          </a:prstGeom>
        </p:spPr>
      </p:pic>
      <p:pic>
        <p:nvPicPr>
          <p:cNvPr id="7" name="Picture 6" descr="A graph showing a number of blue lines&#10;&#10;AI-generated content may be incorrect.">
            <a:extLst>
              <a:ext uri="{FF2B5EF4-FFF2-40B4-BE49-F238E27FC236}">
                <a16:creationId xmlns:a16="http://schemas.microsoft.com/office/drawing/2014/main" id="{5A779DD1-2376-6FE6-68D2-FDF854648B89}"/>
              </a:ext>
            </a:extLst>
          </p:cNvPr>
          <p:cNvPicPr>
            <a:picLocks noChangeAspect="1"/>
          </p:cNvPicPr>
          <p:nvPr/>
        </p:nvPicPr>
        <p:blipFill>
          <a:blip r:embed="rId3"/>
          <a:stretch>
            <a:fillRect/>
          </a:stretch>
        </p:blipFill>
        <p:spPr>
          <a:xfrm>
            <a:off x="6639483" y="1709051"/>
            <a:ext cx="5552517" cy="2493672"/>
          </a:xfrm>
          <a:prstGeom prst="rect">
            <a:avLst/>
          </a:prstGeom>
        </p:spPr>
      </p:pic>
    </p:spTree>
    <p:extLst>
      <p:ext uri="{BB962C8B-B14F-4D97-AF65-F5344CB8AC3E}">
        <p14:creationId xmlns:p14="http://schemas.microsoft.com/office/powerpoint/2010/main" val="2137709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F072E-7D53-B9A7-4EA2-E1907BC61FB4}"/>
              </a:ext>
            </a:extLst>
          </p:cNvPr>
          <p:cNvSpPr>
            <a:spLocks noGrp="1"/>
          </p:cNvSpPr>
          <p:nvPr>
            <p:ph type="title"/>
          </p:nvPr>
        </p:nvSpPr>
        <p:spPr>
          <a:xfrm>
            <a:off x="1024128" y="585216"/>
            <a:ext cx="6066818" cy="1499616"/>
          </a:xfrm>
        </p:spPr>
        <p:txBody>
          <a:bodyPr>
            <a:normAutofit/>
          </a:bodyPr>
          <a:lstStyle/>
          <a:p>
            <a:r>
              <a:rPr lang="en-US" b="1"/>
              <a:t> Draw Conclusions &amp; Implications</a:t>
            </a:r>
            <a:endParaRPr lang="en-US" dirty="0"/>
          </a:p>
        </p:txBody>
      </p:sp>
      <p:cxnSp>
        <p:nvCxnSpPr>
          <p:cNvPr id="8" name="Straight Connector 7">
            <a:extLst>
              <a:ext uri="{FF2B5EF4-FFF2-40B4-BE49-F238E27FC236}">
                <a16:creationId xmlns:a16="http://schemas.microsoft.com/office/drawing/2014/main" id="{8D59213C-2A55-4BC8-A954-66FF3D9E32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ED9B17"/>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C9AC8E57-2D0E-DFBF-F63A-D762A61D7B88}"/>
              </a:ext>
            </a:extLst>
          </p:cNvPr>
          <p:cNvSpPr>
            <a:spLocks noGrp="1" noChangeArrowheads="1"/>
          </p:cNvSpPr>
          <p:nvPr>
            <p:ph idx="1"/>
          </p:nvPr>
        </p:nvSpPr>
        <p:spPr bwMode="auto">
          <a:xfrm>
            <a:off x="1024128" y="2286000"/>
            <a:ext cx="6066818" cy="40233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The analysis shows a clear long-term warming trend</a:t>
            </a:r>
            <a:r>
              <a:rPr kumimoji="0" lang="en-US" altLang="en-US" sz="1500" b="0" i="0" u="none" strike="noStrike" cap="none" normalizeH="0" baseline="0" dirty="0">
                <a:ln>
                  <a:noFill/>
                </a:ln>
                <a:effectLst/>
                <a:latin typeface="Arial" panose="020B0604020202020204" pitchFamily="34" charset="0"/>
              </a:rPr>
              <a:t>, supported by consistent seasonal patterns and strong relationships between temperature and sunshine.</a:t>
            </a:r>
          </a:p>
          <a:p>
            <a:pPr marL="0" marR="0" lvl="0" indent="0" defTabSz="914400" rtl="0" eaLnBrk="0" fontAlgn="base" latinLnBrk="0" hangingPunct="0">
              <a:spcBef>
                <a:spcPct val="0"/>
              </a:spcBef>
              <a:spcAft>
                <a:spcPts val="600"/>
              </a:spcAft>
              <a:buClrTx/>
              <a:buSzTx/>
              <a:buFontTx/>
              <a:buChar char="•"/>
              <a:tabLst/>
            </a:pP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The dataset is largely reliable for trend analysis</a:t>
            </a:r>
            <a:r>
              <a:rPr kumimoji="0" lang="en-US" altLang="en-US" sz="1500" b="0" i="0" u="none" strike="noStrike" cap="none" normalizeH="0" baseline="0" dirty="0">
                <a:ln>
                  <a:noFill/>
                </a:ln>
                <a:effectLst/>
                <a:latin typeface="Arial" panose="020B0604020202020204" pitchFamily="34" charset="0"/>
              </a:rPr>
              <a:t>, with limited missing or estimated values, though some variables require cautious interpretation.</a:t>
            </a:r>
          </a:p>
          <a:p>
            <a:pPr marL="0" marR="0" lvl="0" indent="0" defTabSz="914400" rtl="0" eaLnBrk="0" fontAlgn="base" latinLnBrk="0" hangingPunct="0">
              <a:spcBef>
                <a:spcPct val="0"/>
              </a:spcBef>
              <a:spcAft>
                <a:spcPts val="600"/>
              </a:spcAft>
              <a:buClrTx/>
              <a:buSzTx/>
              <a:buNone/>
              <a:tabLst/>
            </a:pP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Short-term forecasts suggest continued seasonal </a:t>
            </a:r>
            <a:r>
              <a:rPr kumimoji="0" lang="en-US" altLang="en-US" sz="1500" b="1" i="0" u="none" strike="noStrike" cap="none" normalizeH="0" baseline="0" dirty="0" err="1">
                <a:ln>
                  <a:noFill/>
                </a:ln>
                <a:effectLst/>
                <a:latin typeface="Arial" panose="020B0604020202020204" pitchFamily="34" charset="0"/>
              </a:rPr>
              <a:t>behaviour</a:t>
            </a:r>
            <a:r>
              <a:rPr kumimoji="0" lang="en-US" altLang="en-US" sz="1500" b="0" i="0" u="none" strike="noStrike" cap="none" normalizeH="0" baseline="0" dirty="0">
                <a:ln>
                  <a:noFill/>
                </a:ln>
                <a:effectLst/>
                <a:latin typeface="Arial" panose="020B0604020202020204" pitchFamily="34" charset="0"/>
              </a:rPr>
              <a:t>, but results should be used to understand direction rather than exact future values.</a:t>
            </a:r>
          </a:p>
          <a:p>
            <a:pPr marL="0" marR="0" lvl="0" indent="0" defTabSz="914400" rtl="0" eaLnBrk="0" fontAlgn="base" latinLnBrk="0" hangingPunct="0">
              <a:spcBef>
                <a:spcPct val="0"/>
              </a:spcBef>
              <a:spcAft>
                <a:spcPts val="600"/>
              </a:spcAft>
              <a:buClrTx/>
              <a:buSzTx/>
              <a:buNone/>
              <a:tabLst/>
            </a:pP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Recommendation:</a:t>
            </a:r>
            <a:r>
              <a:rPr kumimoji="0" lang="en-US" altLang="en-US" sz="1500" b="0" i="0" u="none" strike="noStrike" cap="none" normalizeH="0" baseline="0" dirty="0">
                <a:ln>
                  <a:noFill/>
                </a:ln>
                <a:effectLst/>
                <a:latin typeface="Arial" panose="020B0604020202020204" pitchFamily="34" charset="0"/>
              </a:rPr>
              <a:t> Use this analysis to support climate monitoring and planning, while updating forecasts regularly as new data becomes available.</a:t>
            </a:r>
          </a:p>
          <a:p>
            <a:pPr marL="0" marR="0" lvl="0" indent="0" defTabSz="914400" rtl="0" eaLnBrk="0" fontAlgn="base" latinLnBrk="0" hangingPunct="0">
              <a:spcBef>
                <a:spcPct val="0"/>
              </a:spcBef>
              <a:spcAft>
                <a:spcPts val="600"/>
              </a:spcAft>
              <a:buClrTx/>
              <a:buSzTx/>
              <a:buFontTx/>
              <a:buChar char="•"/>
              <a:tabLst/>
            </a:pPr>
            <a:endParaRPr kumimoji="0" lang="en-US" altLang="en-US" sz="1500" b="0" i="0" u="none" strike="noStrike" cap="none" normalizeH="0" baseline="0" dirty="0">
              <a:ln>
                <a:noFill/>
              </a:ln>
              <a:effectLst/>
              <a:latin typeface="Arial" panose="020B0604020202020204" pitchFamily="34" charset="0"/>
            </a:endParaRPr>
          </a:p>
        </p:txBody>
      </p:sp>
      <p:pic>
        <p:nvPicPr>
          <p:cNvPr id="9" name="Picture 8" descr="Graph">
            <a:extLst>
              <a:ext uri="{FF2B5EF4-FFF2-40B4-BE49-F238E27FC236}">
                <a16:creationId xmlns:a16="http://schemas.microsoft.com/office/drawing/2014/main" id="{55CEF5C4-0A88-A818-01A4-DCFC8FC76701}"/>
              </a:ext>
            </a:extLst>
          </p:cNvPr>
          <p:cNvPicPr>
            <a:picLocks noChangeAspect="1"/>
          </p:cNvPicPr>
          <p:nvPr/>
        </p:nvPicPr>
        <p:blipFill>
          <a:blip r:embed="rId2"/>
          <a:srcRect l="23225" r="34491"/>
          <a:stretch>
            <a:fillRect/>
          </a:stretch>
        </p:blipFill>
        <p:spPr>
          <a:xfrm>
            <a:off x="7552266" y="10"/>
            <a:ext cx="4639733" cy="6857990"/>
          </a:xfrm>
          <a:prstGeom prst="rect">
            <a:avLst/>
          </a:prstGeom>
        </p:spPr>
      </p:pic>
    </p:spTree>
    <p:extLst>
      <p:ext uri="{BB962C8B-B14F-4D97-AF65-F5344CB8AC3E}">
        <p14:creationId xmlns:p14="http://schemas.microsoft.com/office/powerpoint/2010/main" val="32815738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747</TotalTime>
  <Words>611</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"Crimson Text"</vt:lpstr>
      <vt:lpstr>Arial</vt:lpstr>
      <vt:lpstr>Tw Cen MT</vt:lpstr>
      <vt:lpstr>Tw Cen MT Condensed</vt:lpstr>
      <vt:lpstr>Wingdings 3</vt:lpstr>
      <vt:lpstr>Integral</vt:lpstr>
      <vt:lpstr>Turning Climate Data into Clear Insights</vt:lpstr>
      <vt:lpstr>The Approach Taken</vt:lpstr>
      <vt:lpstr>Understanding the Data</vt:lpstr>
      <vt:lpstr>Data Cleaning &amp; Analysis </vt:lpstr>
      <vt:lpstr>3. Derive Trends &amp; Insights</vt:lpstr>
      <vt:lpstr>Forecasting &amp; Limitations </vt:lpstr>
      <vt:lpstr> Draw Conclusions &amp;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Amusan, Ayobami</dc:creator>
  <cp:lastModifiedBy>Amusan, Ayobami</cp:lastModifiedBy>
  <cp:revision>2</cp:revision>
  <dcterms:created xsi:type="dcterms:W3CDTF">2026-02-09T22:32:30Z</dcterms:created>
  <dcterms:modified xsi:type="dcterms:W3CDTF">2026-02-10T11:00:12Z</dcterms:modified>
</cp:coreProperties>
</file>